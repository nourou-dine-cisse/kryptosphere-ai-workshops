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</p:sldMasterIdLst>
  <p:sldIdLst>
    <p:sldId id="256" r:id="rId3"/>
    <p:sldId id="257" r:id="rId4"/>
    <p:sldId id="273" r:id="rId5"/>
    <p:sldId id="276" r:id="rId6"/>
    <p:sldId id="278" r:id="rId7"/>
    <p:sldId id="265" r:id="rId8"/>
    <p:sldId id="271" r:id="rId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514"/>
  </p:normalViewPr>
  <p:slideViewPr>
    <p:cSldViewPr>
      <p:cViewPr varScale="1">
        <p:scale>
          <a:sx n="99" d="100"/>
          <a:sy n="99" d="100"/>
        </p:scale>
        <p:origin x="424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11/19/25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11/19/25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11/19/25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11/19/25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0386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11/19/25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1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11/19/25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72991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51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11/19/25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61960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11/19/25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0627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11/19/25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54107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11/19/25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0549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57885" y="254888"/>
            <a:ext cx="10476229" cy="19476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93787" y="2623184"/>
            <a:ext cx="9610725" cy="27343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11/19/25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415493"/>
            <a:ext cx="9697339" cy="1031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30317" y="2555240"/>
            <a:ext cx="5098415" cy="151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1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11/19/25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13582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1027" y="1481137"/>
            <a:ext cx="4194175" cy="9753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200" spc="-310" dirty="0">
                <a:solidFill>
                  <a:srgbClr val="FFFFFF"/>
                </a:solidFill>
              </a:rPr>
              <a:t>Formation</a:t>
            </a:r>
            <a:r>
              <a:rPr sz="6200" spc="-660" dirty="0">
                <a:solidFill>
                  <a:srgbClr val="FFFFFF"/>
                </a:solidFill>
              </a:rPr>
              <a:t> </a:t>
            </a:r>
            <a:r>
              <a:rPr lang="fr-FR" sz="6200" spc="-660" dirty="0">
                <a:solidFill>
                  <a:srgbClr val="FFFFFF"/>
                </a:solidFill>
              </a:rPr>
              <a:t>4</a:t>
            </a:r>
            <a:r>
              <a:rPr sz="6200" spc="-695" dirty="0">
                <a:solidFill>
                  <a:srgbClr val="FFFFFF"/>
                </a:solidFill>
              </a:rPr>
              <a:t> </a:t>
            </a:r>
            <a:r>
              <a:rPr sz="6200" spc="-805" dirty="0">
                <a:solidFill>
                  <a:srgbClr val="FFFFFF"/>
                </a:solidFill>
              </a:rPr>
              <a:t>:</a:t>
            </a:r>
            <a:endParaRPr sz="6200" dirty="0"/>
          </a:p>
        </p:txBody>
      </p:sp>
      <p:sp>
        <p:nvSpPr>
          <p:cNvPr id="4" name="object 4"/>
          <p:cNvSpPr txBox="1"/>
          <p:nvPr/>
        </p:nvSpPr>
        <p:spPr>
          <a:xfrm>
            <a:off x="1314703" y="2482278"/>
            <a:ext cx="3866895" cy="152990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R="5080" algn="r">
              <a:lnSpc>
                <a:spcPts val="5890"/>
              </a:lnSpc>
              <a:spcBef>
                <a:spcPts val="130"/>
              </a:spcBef>
            </a:pPr>
            <a:r>
              <a:rPr lang="fr-FR" sz="5000" spc="-254" dirty="0">
                <a:solidFill>
                  <a:srgbClr val="FFFFFF"/>
                </a:solidFill>
                <a:latin typeface="Trebuchet MS"/>
                <a:cs typeface="Trebuchet MS"/>
              </a:rPr>
              <a:t>Apprentissage non supervisé </a:t>
            </a:r>
            <a:r>
              <a:rPr lang="fr-FR" sz="3200" spc="-25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endParaRPr sz="3200" dirty="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440426" y="1266825"/>
            <a:ext cx="6437630" cy="5588635"/>
            <a:chOff x="5440426" y="1266825"/>
            <a:chExt cx="6437630" cy="5588635"/>
          </a:xfrm>
        </p:grpSpPr>
        <p:sp>
          <p:nvSpPr>
            <p:cNvPr id="6" name="object 6"/>
            <p:cNvSpPr/>
            <p:nvPr/>
          </p:nvSpPr>
          <p:spPr>
            <a:xfrm>
              <a:off x="5453126" y="1595500"/>
              <a:ext cx="0" cy="5259705"/>
            </a:xfrm>
            <a:custGeom>
              <a:avLst/>
              <a:gdLst/>
              <a:ahLst/>
              <a:cxnLst/>
              <a:rect l="l" t="t" r="r" b="b"/>
              <a:pathLst>
                <a:path h="5259705">
                  <a:moveTo>
                    <a:pt x="0" y="0"/>
                  </a:moveTo>
                  <a:lnTo>
                    <a:pt x="0" y="5259690"/>
                  </a:lnTo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57950" y="1600200"/>
              <a:ext cx="4724400" cy="471487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515725" y="1266825"/>
              <a:ext cx="133350" cy="14287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753850" y="1657350"/>
              <a:ext cx="123825" cy="13335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4375" y="2917888"/>
            <a:ext cx="1556385" cy="849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400" spc="-195" dirty="0">
                <a:latin typeface="Trebuchet MS"/>
                <a:cs typeface="Trebuchet MS"/>
              </a:rPr>
              <a:t>Plan</a:t>
            </a:r>
            <a:r>
              <a:rPr sz="5400" spc="-595" dirty="0">
                <a:latin typeface="Trebuchet MS"/>
                <a:cs typeface="Trebuchet MS"/>
              </a:rPr>
              <a:t> </a:t>
            </a:r>
            <a:r>
              <a:rPr sz="5400" spc="-730" dirty="0">
                <a:latin typeface="Trebuchet MS"/>
                <a:cs typeface="Trebuchet MS"/>
              </a:rPr>
              <a:t>:</a:t>
            </a:r>
            <a:endParaRPr sz="54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675412" y="762000"/>
            <a:ext cx="6905625" cy="0"/>
          </a:xfrm>
          <a:custGeom>
            <a:avLst/>
            <a:gdLst/>
            <a:ahLst/>
            <a:cxnLst/>
            <a:rect l="l" t="t" r="r" b="b"/>
            <a:pathLst>
              <a:path w="6905625">
                <a:moveTo>
                  <a:pt x="0" y="0"/>
                </a:moveTo>
                <a:lnTo>
                  <a:pt x="6905625" y="0"/>
                </a:lnTo>
              </a:path>
            </a:pathLst>
          </a:custGeom>
          <a:ln w="19050">
            <a:solidFill>
              <a:srgbClr val="E970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708072" y="998754"/>
            <a:ext cx="5748910" cy="67069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fr-FR" sz="4250" spc="-200" dirty="0"/>
              <a:t>Définition et applications</a:t>
            </a:r>
            <a:endParaRPr sz="4250" dirty="0"/>
          </a:p>
        </p:txBody>
      </p:sp>
      <p:sp>
        <p:nvSpPr>
          <p:cNvPr id="5" name="object 5"/>
          <p:cNvSpPr/>
          <p:nvPr/>
        </p:nvSpPr>
        <p:spPr>
          <a:xfrm>
            <a:off x="4686299" y="2743200"/>
            <a:ext cx="6905625" cy="0"/>
          </a:xfrm>
          <a:custGeom>
            <a:avLst/>
            <a:gdLst/>
            <a:ahLst/>
            <a:cxnLst/>
            <a:rect l="l" t="t" r="r" b="b"/>
            <a:pathLst>
              <a:path w="6905625">
                <a:moveTo>
                  <a:pt x="0" y="0"/>
                </a:moveTo>
                <a:lnTo>
                  <a:pt x="6905625" y="0"/>
                </a:lnTo>
              </a:path>
            </a:pathLst>
          </a:custGeom>
          <a:ln w="19050">
            <a:solidFill>
              <a:srgbClr val="186B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697186" y="1958648"/>
            <a:ext cx="4965065" cy="679032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marR="5080">
              <a:lnSpc>
                <a:spcPts val="4730"/>
              </a:lnSpc>
              <a:spcBef>
                <a:spcPts val="595"/>
              </a:spcBef>
            </a:pPr>
            <a:r>
              <a:rPr lang="fr-FR" sz="4250" dirty="0">
                <a:latin typeface="Trebuchet MS"/>
                <a:cs typeface="Trebuchet MS"/>
              </a:rPr>
              <a:t>Méthodes</a:t>
            </a:r>
            <a:endParaRPr sz="4250" dirty="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686299" y="4866530"/>
            <a:ext cx="6905625" cy="0"/>
          </a:xfrm>
          <a:custGeom>
            <a:avLst/>
            <a:gdLst/>
            <a:ahLst/>
            <a:cxnLst/>
            <a:rect l="l" t="t" r="r" b="b"/>
            <a:pathLst>
              <a:path w="6905625">
                <a:moveTo>
                  <a:pt x="0" y="0"/>
                </a:moveTo>
                <a:lnTo>
                  <a:pt x="6905625" y="0"/>
                </a:lnTo>
              </a:path>
            </a:pathLst>
          </a:custGeom>
          <a:ln w="19050">
            <a:solidFill>
              <a:srgbClr val="0E9E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5">
            <a:extLst>
              <a:ext uri="{FF2B5EF4-FFF2-40B4-BE49-F238E27FC236}">
                <a16:creationId xmlns:a16="http://schemas.microsoft.com/office/drawing/2014/main" id="{B8C7A302-714C-84CE-E65A-7B0EE5B8E20A}"/>
              </a:ext>
            </a:extLst>
          </p:cNvPr>
          <p:cNvSpPr/>
          <p:nvPr/>
        </p:nvSpPr>
        <p:spPr>
          <a:xfrm>
            <a:off x="4686299" y="1752600"/>
            <a:ext cx="6905625" cy="0"/>
          </a:xfrm>
          <a:custGeom>
            <a:avLst/>
            <a:gdLst/>
            <a:ahLst/>
            <a:cxnLst/>
            <a:rect l="l" t="t" r="r" b="b"/>
            <a:pathLst>
              <a:path w="6905625">
                <a:moveTo>
                  <a:pt x="0" y="0"/>
                </a:moveTo>
                <a:lnTo>
                  <a:pt x="6905625" y="0"/>
                </a:lnTo>
              </a:path>
            </a:pathLst>
          </a:custGeom>
          <a:ln w="19050">
            <a:solidFill>
              <a:srgbClr val="186B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6">
            <a:extLst>
              <a:ext uri="{FF2B5EF4-FFF2-40B4-BE49-F238E27FC236}">
                <a16:creationId xmlns:a16="http://schemas.microsoft.com/office/drawing/2014/main" id="{04181B80-B235-E329-1CC7-92F675866B93}"/>
              </a:ext>
            </a:extLst>
          </p:cNvPr>
          <p:cNvSpPr txBox="1"/>
          <p:nvPr/>
        </p:nvSpPr>
        <p:spPr>
          <a:xfrm>
            <a:off x="4675413" y="4021197"/>
            <a:ext cx="4965065" cy="679032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marR="5080">
              <a:lnSpc>
                <a:spcPts val="4730"/>
              </a:lnSpc>
              <a:spcBef>
                <a:spcPts val="595"/>
              </a:spcBef>
            </a:pPr>
            <a:r>
              <a:rPr lang="fr-FR" sz="4250" spc="55" dirty="0">
                <a:latin typeface="Trebuchet MS"/>
                <a:cs typeface="Trebuchet MS"/>
              </a:rPr>
              <a:t>Idée de K-</a:t>
            </a:r>
            <a:r>
              <a:rPr lang="fr-FR" sz="4250" spc="55" dirty="0" err="1">
                <a:latin typeface="Trebuchet MS"/>
                <a:cs typeface="Trebuchet MS"/>
              </a:rPr>
              <a:t>means</a:t>
            </a:r>
            <a:endParaRPr sz="4250" dirty="0">
              <a:latin typeface="Trebuchet MS"/>
              <a:cs typeface="Trebuchet MS"/>
            </a:endParaRPr>
          </a:p>
        </p:txBody>
      </p:sp>
      <p:sp>
        <p:nvSpPr>
          <p:cNvPr id="13" name="object 6">
            <a:extLst>
              <a:ext uri="{FF2B5EF4-FFF2-40B4-BE49-F238E27FC236}">
                <a16:creationId xmlns:a16="http://schemas.microsoft.com/office/drawing/2014/main" id="{19661A77-82FD-A46C-D6C8-6B9F076C16A1}"/>
              </a:ext>
            </a:extLst>
          </p:cNvPr>
          <p:cNvSpPr txBox="1"/>
          <p:nvPr/>
        </p:nvSpPr>
        <p:spPr>
          <a:xfrm>
            <a:off x="4686299" y="2933865"/>
            <a:ext cx="6515100" cy="679032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marR="5080">
              <a:lnSpc>
                <a:spcPts val="4730"/>
              </a:lnSpc>
              <a:spcBef>
                <a:spcPts val="595"/>
              </a:spcBef>
            </a:pPr>
            <a:r>
              <a:rPr lang="fr-FR" sz="4250" spc="55" dirty="0">
                <a:latin typeface="Trebuchet MS"/>
                <a:cs typeface="Trebuchet MS"/>
              </a:rPr>
              <a:t>Pipeline d’un clustering</a:t>
            </a:r>
            <a:endParaRPr sz="4250" dirty="0">
              <a:latin typeface="Trebuchet MS"/>
              <a:cs typeface="Trebuchet MS"/>
            </a:endParaRPr>
          </a:p>
        </p:txBody>
      </p:sp>
      <p:sp>
        <p:nvSpPr>
          <p:cNvPr id="14" name="object 7">
            <a:extLst>
              <a:ext uri="{FF2B5EF4-FFF2-40B4-BE49-F238E27FC236}">
                <a16:creationId xmlns:a16="http://schemas.microsoft.com/office/drawing/2014/main" id="{AE01091F-81F1-E276-73A4-781A6E41D2C2}"/>
              </a:ext>
            </a:extLst>
          </p:cNvPr>
          <p:cNvSpPr/>
          <p:nvPr/>
        </p:nvSpPr>
        <p:spPr>
          <a:xfrm>
            <a:off x="4675413" y="3767518"/>
            <a:ext cx="6905625" cy="0"/>
          </a:xfrm>
          <a:custGeom>
            <a:avLst/>
            <a:gdLst/>
            <a:ahLst/>
            <a:cxnLst/>
            <a:rect l="l" t="t" r="r" b="b"/>
            <a:pathLst>
              <a:path w="6905625">
                <a:moveTo>
                  <a:pt x="0" y="0"/>
                </a:moveTo>
                <a:lnTo>
                  <a:pt x="6905625" y="0"/>
                </a:lnTo>
              </a:path>
            </a:pathLst>
          </a:custGeom>
          <a:ln w="19050">
            <a:solidFill>
              <a:srgbClr val="0E9E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6">
            <a:extLst>
              <a:ext uri="{FF2B5EF4-FFF2-40B4-BE49-F238E27FC236}">
                <a16:creationId xmlns:a16="http://schemas.microsoft.com/office/drawing/2014/main" id="{1141EF6E-CEAD-0F40-726B-86DC8B4CF98C}"/>
              </a:ext>
            </a:extLst>
          </p:cNvPr>
          <p:cNvSpPr txBox="1"/>
          <p:nvPr/>
        </p:nvSpPr>
        <p:spPr>
          <a:xfrm>
            <a:off x="4686300" y="4866530"/>
            <a:ext cx="4965065" cy="679032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marR="5080">
              <a:lnSpc>
                <a:spcPts val="4730"/>
              </a:lnSpc>
              <a:spcBef>
                <a:spcPts val="595"/>
              </a:spcBef>
            </a:pPr>
            <a:r>
              <a:rPr lang="fr-FR" sz="4250" spc="55" dirty="0">
                <a:latin typeface="Trebuchet MS"/>
                <a:cs typeface="Trebuchet MS"/>
              </a:rPr>
              <a:t>Points importants  </a:t>
            </a:r>
            <a:endParaRPr sz="425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3DD7058-FF9E-1466-6477-797CA4746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66A37953-E568-D05B-4218-905DF13CFA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996112" cy="6858000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9A3FC975-92A2-96C4-D976-B7ACE91BE70A}"/>
              </a:ext>
            </a:extLst>
          </p:cNvPr>
          <p:cNvSpPr txBox="1"/>
          <p:nvPr/>
        </p:nvSpPr>
        <p:spPr>
          <a:xfrm>
            <a:off x="7391400" y="609600"/>
            <a:ext cx="4495800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Trebuchet MS" panose="020B0603020202020204" pitchFamily="34" charset="0"/>
              </a:rPr>
              <a:t>L’apprentissage non supervisé sert à explorer les données sans labels pour trouver des structures, des groupes , ou des anomalies. Voici quelques applications : </a:t>
            </a:r>
          </a:p>
          <a:p>
            <a:r>
              <a:rPr lang="fr-FR" sz="2000" dirty="0">
                <a:latin typeface="Trebuchet MS" panose="020B060302020202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>
                <a:latin typeface="Trebuchet MS" panose="020B0603020202020204" pitchFamily="34" charset="0"/>
              </a:rPr>
              <a:t>Regroupement de documents, images, tweets </a:t>
            </a:r>
          </a:p>
          <a:p>
            <a:endParaRPr lang="fr-FR" sz="2000" dirty="0">
              <a:latin typeface="Trebuchet MS" panose="020B06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>
                <a:latin typeface="Trebuchet MS" panose="020B0603020202020204" pitchFamily="34" charset="0"/>
              </a:rPr>
              <a:t>Fraudes bancaires</a:t>
            </a:r>
          </a:p>
          <a:p>
            <a:endParaRPr lang="fr-FR" sz="2000" dirty="0">
              <a:latin typeface="Trebuchet MS" panose="020B06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>
                <a:latin typeface="Trebuchet MS" panose="020B0603020202020204" pitchFamily="34" charset="0"/>
              </a:rPr>
              <a:t>Réduction de dimension</a:t>
            </a:r>
          </a:p>
          <a:p>
            <a:endParaRPr lang="fr-FR" sz="2000" dirty="0">
              <a:latin typeface="Trebuchet MS" panose="020B06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>
                <a:latin typeface="Trebuchet MS" panose="020B0603020202020204" pitchFamily="34" charset="0"/>
              </a:rPr>
              <a:t>Découvrir des patterns cachés</a:t>
            </a:r>
          </a:p>
          <a:p>
            <a:endParaRPr lang="fr-FR" sz="2000" dirty="0">
              <a:latin typeface="Trebuchet MS" panose="020B06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>
                <a:latin typeface="Trebuchet MS" panose="020B0603020202020204" pitchFamily="34" charset="0"/>
              </a:rPr>
              <a:t>Créer des </a:t>
            </a:r>
            <a:r>
              <a:rPr lang="fr-FR" sz="2000" dirty="0" err="1">
                <a:latin typeface="Trebuchet MS" panose="020B0603020202020204" pitchFamily="34" charset="0"/>
              </a:rPr>
              <a:t>features</a:t>
            </a:r>
            <a:r>
              <a:rPr lang="fr-FR" sz="2000" dirty="0">
                <a:latin typeface="Trebuchet MS" panose="020B0603020202020204" pitchFamily="34" charset="0"/>
              </a:rPr>
              <a:t> 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86560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878F8AD-D19B-29C7-32FE-E974FF1FA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6A734A9F-7386-F6CF-6E1D-3196BEC8CF5B}"/>
              </a:ext>
            </a:extLst>
          </p:cNvPr>
          <p:cNvSpPr txBox="1"/>
          <p:nvPr/>
        </p:nvSpPr>
        <p:spPr>
          <a:xfrm>
            <a:off x="1066800" y="152400"/>
            <a:ext cx="9829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u="sng" dirty="0">
                <a:latin typeface="Trebuchet MS" panose="020B0603020202020204" pitchFamily="34" charset="0"/>
              </a:rPr>
              <a:t>Méthodes de Clustering  : 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38883E91-9BB3-61EC-D10F-BC698DC555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33600"/>
            <a:ext cx="3429000" cy="232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 2" descr="Une image contenant diagramme, capture d’écran, ligne, Tracé&#10;&#10;Le contenu généré par l’IA peut être incorrect.">
            <a:extLst>
              <a:ext uri="{FF2B5EF4-FFF2-40B4-BE49-F238E27FC236}">
                <a16:creationId xmlns:a16="http://schemas.microsoft.com/office/drawing/2014/main" id="{8FA91350-8434-4AF8-1067-E6AC709C5D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0065" y="1776240"/>
            <a:ext cx="4020111" cy="3633960"/>
          </a:xfrm>
          <a:prstGeom prst="rect">
            <a:avLst/>
          </a:prstGeom>
        </p:spPr>
      </p:pic>
      <p:pic>
        <p:nvPicPr>
          <p:cNvPr id="10" name="Image 9" descr="Une image contenant Caractère coloré&#10;&#10;Le contenu généré par l’IA peut être incorrect.">
            <a:extLst>
              <a:ext uri="{FF2B5EF4-FFF2-40B4-BE49-F238E27FC236}">
                <a16:creationId xmlns:a16="http://schemas.microsoft.com/office/drawing/2014/main" id="{73B086F5-3894-A47C-6066-1E18878D0F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8410" y="2521508"/>
            <a:ext cx="4262788" cy="2143424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A438304B-5D18-05EA-3D29-66502D8B7AAB}"/>
              </a:ext>
            </a:extLst>
          </p:cNvPr>
          <p:cNvSpPr txBox="1"/>
          <p:nvPr/>
        </p:nvSpPr>
        <p:spPr>
          <a:xfrm>
            <a:off x="304800" y="5410200"/>
            <a:ext cx="198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i="1" u="sng" dirty="0">
                <a:latin typeface="Trebuchet MS" panose="020B0603020202020204" pitchFamily="34" charset="0"/>
              </a:rPr>
              <a:t>K-</a:t>
            </a:r>
            <a:r>
              <a:rPr lang="fr-FR" sz="2800" b="1" i="1" u="sng" dirty="0" err="1">
                <a:latin typeface="Trebuchet MS" panose="020B0603020202020204" pitchFamily="34" charset="0"/>
              </a:rPr>
              <a:t>means</a:t>
            </a:r>
            <a:r>
              <a:rPr lang="fr-FR" sz="2800" b="1" i="1" u="sng" dirty="0">
                <a:latin typeface="Trebuchet MS" panose="020B0603020202020204" pitchFamily="34" charset="0"/>
              </a:rPr>
              <a:t> : 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818A676-1566-C2CE-D970-799006BB5D13}"/>
              </a:ext>
            </a:extLst>
          </p:cNvPr>
          <p:cNvSpPr txBox="1"/>
          <p:nvPr/>
        </p:nvSpPr>
        <p:spPr>
          <a:xfrm>
            <a:off x="3810000" y="5410200"/>
            <a:ext cx="304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i="1" u="sng" dirty="0">
                <a:latin typeface="Trebuchet MS" panose="020B0603020202020204" pitchFamily="34" charset="0"/>
              </a:rPr>
              <a:t>DBSCAN : 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B4B4CBFB-F741-488D-6BB9-316DE2216D49}"/>
              </a:ext>
            </a:extLst>
          </p:cNvPr>
          <p:cNvSpPr txBox="1"/>
          <p:nvPr/>
        </p:nvSpPr>
        <p:spPr>
          <a:xfrm>
            <a:off x="8534400" y="5562600"/>
            <a:ext cx="272653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i="1" u="sng" dirty="0">
                <a:latin typeface="Trebuchet MS" panose="020B0603020202020204" pitchFamily="34" charset="0"/>
              </a:rPr>
              <a:t>Clustering hiérarchique </a:t>
            </a:r>
          </a:p>
        </p:txBody>
      </p:sp>
    </p:spTree>
    <p:extLst>
      <p:ext uri="{BB962C8B-B14F-4D97-AF65-F5344CB8AC3E}">
        <p14:creationId xmlns:p14="http://schemas.microsoft.com/office/powerpoint/2010/main" val="1070422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55251E8-E82D-C746-9DD5-7D535AFEE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EEB15034-C320-1AFB-9FBA-582E861041B5}"/>
              </a:ext>
            </a:extLst>
          </p:cNvPr>
          <p:cNvSpPr txBox="1"/>
          <p:nvPr/>
        </p:nvSpPr>
        <p:spPr>
          <a:xfrm>
            <a:off x="1066800" y="152400"/>
            <a:ext cx="9829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u="sng" dirty="0">
                <a:latin typeface="Trebuchet MS" panose="020B0603020202020204" pitchFamily="34" charset="0"/>
              </a:rPr>
              <a:t>L’algorithme du K-</a:t>
            </a:r>
            <a:r>
              <a:rPr lang="fr-FR" sz="4800" u="sng" dirty="0" err="1">
                <a:latin typeface="Trebuchet MS" panose="020B0603020202020204" pitchFamily="34" charset="0"/>
              </a:rPr>
              <a:t>means</a:t>
            </a:r>
            <a:r>
              <a:rPr lang="fr-FR" sz="4800" u="sng" dirty="0">
                <a:latin typeface="Trebuchet MS" panose="020B0603020202020204" pitchFamily="34" charset="0"/>
              </a:rPr>
              <a:t> : </a:t>
            </a:r>
          </a:p>
        </p:txBody>
      </p:sp>
      <p:pic>
        <p:nvPicPr>
          <p:cNvPr id="2" name="Picture 6">
            <a:extLst>
              <a:ext uri="{FF2B5EF4-FFF2-40B4-BE49-F238E27FC236}">
                <a16:creationId xmlns:a16="http://schemas.microsoft.com/office/drawing/2014/main" id="{592A4C3F-8FF0-6B36-433D-F631B5DCF3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828800"/>
            <a:ext cx="60960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12166684-6104-9C1E-F778-173C1E6E9E6D}"/>
              </a:ext>
            </a:extLst>
          </p:cNvPr>
          <p:cNvSpPr txBox="1"/>
          <p:nvPr/>
        </p:nvSpPr>
        <p:spPr>
          <a:xfrm>
            <a:off x="152400" y="1165622"/>
            <a:ext cx="6324600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latin typeface="Trebuchet MS" panose="020B0603020202020204" pitchFamily="34" charset="0"/>
              </a:rPr>
              <a:t>On souhaite regrouper les données en K groupes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>
                <a:latin typeface="Trebuchet MS" panose="020B0603020202020204" pitchFamily="34" charset="0"/>
              </a:rPr>
              <a:t>Choisir K centres principaux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>
                <a:latin typeface="Trebuchet MS" panose="020B0603020202020204" pitchFamily="34" charset="0"/>
              </a:rPr>
              <a:t>Assigner chaque point au centre le plus proche.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>
                <a:latin typeface="Trebuchet MS" panose="020B0603020202020204" pitchFamily="34" charset="0"/>
              </a:rPr>
              <a:t>Recalculer les centres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>
                <a:latin typeface="Trebuchet MS" panose="020B0603020202020204" pitchFamily="34" charset="0"/>
              </a:rPr>
              <a:t>Répéter jusqu’à stabilisation </a:t>
            </a:r>
          </a:p>
          <a:p>
            <a:r>
              <a:rPr lang="fr-FR" sz="2400" b="1" i="1" u="sng" dirty="0">
                <a:latin typeface="Trebuchet MS" panose="020B0603020202020204" pitchFamily="34" charset="0"/>
              </a:rPr>
              <a:t>Objectif </a:t>
            </a:r>
            <a:r>
              <a:rPr lang="fr-FR" sz="2400" dirty="0">
                <a:latin typeface="Trebuchet MS" panose="020B0603020202020204" pitchFamily="34" charset="0"/>
              </a:rPr>
              <a:t>: minimiser la distance intra-cluster. </a:t>
            </a:r>
          </a:p>
          <a:p>
            <a:endParaRPr lang="fr-FR" sz="2400" dirty="0">
              <a:latin typeface="Trebuchet MS" panose="020B0603020202020204" pitchFamily="34" charset="0"/>
            </a:endParaRPr>
          </a:p>
          <a:p>
            <a:r>
              <a:rPr lang="fr-FR" sz="2400" b="1" i="1" u="sng" dirty="0">
                <a:latin typeface="Trebuchet MS" panose="020B0603020202020204" pitchFamily="34" charset="0"/>
              </a:rPr>
              <a:t>Remarques </a:t>
            </a:r>
            <a:r>
              <a:rPr lang="fr-FR" sz="2400" dirty="0">
                <a:latin typeface="Trebuchet MS" panose="020B0603020202020204" pitchFamily="34" charset="0"/>
              </a:rPr>
              <a:t>: </a:t>
            </a:r>
          </a:p>
          <a:p>
            <a:r>
              <a:rPr lang="fr-FR" sz="2400" dirty="0">
                <a:latin typeface="Trebuchet MS" panose="020B0603020202020204" pitchFamily="34" charset="0"/>
                <a:sym typeface="Wingdings" panose="05000000000000000000" pitchFamily="2" charset="2"/>
              </a:rPr>
              <a:t>K doit être choisi à l’avance </a:t>
            </a:r>
          </a:p>
          <a:p>
            <a:r>
              <a:rPr lang="fr-FR" sz="2400" dirty="0">
                <a:latin typeface="Trebuchet MS" panose="020B0603020202020204" pitchFamily="34" charset="0"/>
                <a:sym typeface="Wingdings" panose="05000000000000000000" pitchFamily="2" charset="2"/>
              </a:rPr>
              <a:t> L’algorithme est sensible aux valeurs extrêmes </a:t>
            </a:r>
            <a:endParaRPr lang="fr-FR" sz="2400" dirty="0">
              <a:latin typeface="Trebuchet MS" panose="020B06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>
              <a:latin typeface="Trebuchet MS" panose="020B0603020202020204" pitchFamily="34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27152FE-3109-3DBB-F64F-FD47E2D4CD89}"/>
              </a:ext>
            </a:extLst>
          </p:cNvPr>
          <p:cNvSpPr txBox="1"/>
          <p:nvPr/>
        </p:nvSpPr>
        <p:spPr>
          <a:xfrm>
            <a:off x="7239000" y="1312545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Trebuchet MS" panose="020B0603020202020204" pitchFamily="34" charset="0"/>
              </a:rPr>
              <a:t>Exemple : 2-Means</a:t>
            </a:r>
          </a:p>
        </p:txBody>
      </p:sp>
    </p:spTree>
    <p:extLst>
      <p:ext uri="{BB962C8B-B14F-4D97-AF65-F5344CB8AC3E}">
        <p14:creationId xmlns:p14="http://schemas.microsoft.com/office/powerpoint/2010/main" val="1976649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" y="389004"/>
            <a:ext cx="9697339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69925">
              <a:lnSpc>
                <a:spcPct val="100000"/>
              </a:lnSpc>
              <a:spcBef>
                <a:spcPts val="100"/>
              </a:spcBef>
            </a:pPr>
            <a:r>
              <a:rPr sz="5400" spc="-305" dirty="0"/>
              <a:t>Notre</a:t>
            </a:r>
            <a:r>
              <a:rPr sz="5400" spc="-695" dirty="0"/>
              <a:t> </a:t>
            </a:r>
            <a:r>
              <a:rPr sz="5400" spc="-430" dirty="0"/>
              <a:t>partenariat</a:t>
            </a:r>
            <a:r>
              <a:rPr sz="5400" spc="-690" dirty="0"/>
              <a:t> </a:t>
            </a:r>
            <a:r>
              <a:rPr sz="5400" spc="-290" dirty="0"/>
              <a:t>avec</a:t>
            </a:r>
            <a:r>
              <a:rPr sz="5400" spc="-695" dirty="0"/>
              <a:t> </a:t>
            </a:r>
            <a:r>
              <a:rPr sz="5400" spc="-25" dirty="0"/>
              <a:t>IBM</a:t>
            </a:r>
            <a:endParaRPr sz="5400" dirty="0"/>
          </a:p>
        </p:txBody>
      </p:sp>
      <p:grpSp>
        <p:nvGrpSpPr>
          <p:cNvPr id="3" name="object 3"/>
          <p:cNvGrpSpPr/>
          <p:nvPr/>
        </p:nvGrpSpPr>
        <p:grpSpPr>
          <a:xfrm>
            <a:off x="1981200" y="1401748"/>
            <a:ext cx="4614545" cy="95885"/>
            <a:chOff x="3786822" y="1699593"/>
            <a:chExt cx="4614545" cy="95885"/>
          </a:xfrm>
        </p:grpSpPr>
        <p:sp>
          <p:nvSpPr>
            <p:cNvPr id="4" name="object 4"/>
            <p:cNvSpPr/>
            <p:nvPr/>
          </p:nvSpPr>
          <p:spPr>
            <a:xfrm>
              <a:off x="3807205" y="1719664"/>
              <a:ext cx="4572635" cy="48260"/>
            </a:xfrm>
            <a:custGeom>
              <a:avLst/>
              <a:gdLst/>
              <a:ahLst/>
              <a:cxnLst/>
              <a:rect l="l" t="t" r="r" b="b"/>
              <a:pathLst>
                <a:path w="4572634" h="48260">
                  <a:moveTo>
                    <a:pt x="1921979" y="0"/>
                  </a:moveTo>
                  <a:lnTo>
                    <a:pt x="1873850" y="58"/>
                  </a:lnTo>
                  <a:lnTo>
                    <a:pt x="1826402" y="891"/>
                  </a:lnTo>
                  <a:lnTo>
                    <a:pt x="1779454" y="2588"/>
                  </a:lnTo>
                  <a:lnTo>
                    <a:pt x="1732828" y="5239"/>
                  </a:lnTo>
                  <a:lnTo>
                    <a:pt x="1686344" y="8932"/>
                  </a:lnTo>
                  <a:lnTo>
                    <a:pt x="1639824" y="13758"/>
                  </a:lnTo>
                  <a:lnTo>
                    <a:pt x="1586654" y="18644"/>
                  </a:lnTo>
                  <a:lnTo>
                    <a:pt x="1536618" y="20863"/>
                  </a:lnTo>
                  <a:lnTo>
                    <a:pt x="1488812" y="20979"/>
                  </a:lnTo>
                  <a:lnTo>
                    <a:pt x="1442332" y="19553"/>
                  </a:lnTo>
                  <a:lnTo>
                    <a:pt x="1396275" y="17150"/>
                  </a:lnTo>
                  <a:lnTo>
                    <a:pt x="1301818" y="11666"/>
                  </a:lnTo>
                  <a:lnTo>
                    <a:pt x="1251610" y="9712"/>
                  </a:lnTo>
                  <a:lnTo>
                    <a:pt x="1198212" y="9033"/>
                  </a:lnTo>
                  <a:lnTo>
                    <a:pt x="1140719" y="10194"/>
                  </a:lnTo>
                  <a:lnTo>
                    <a:pt x="1078230" y="13758"/>
                  </a:lnTo>
                  <a:lnTo>
                    <a:pt x="1011887" y="18514"/>
                  </a:lnTo>
                  <a:lnTo>
                    <a:pt x="955022" y="21890"/>
                  </a:lnTo>
                  <a:lnTo>
                    <a:pt x="905310" y="24007"/>
                  </a:lnTo>
                  <a:lnTo>
                    <a:pt x="860423" y="24987"/>
                  </a:lnTo>
                  <a:lnTo>
                    <a:pt x="818038" y="24950"/>
                  </a:lnTo>
                  <a:lnTo>
                    <a:pt x="775828" y="24018"/>
                  </a:lnTo>
                  <a:lnTo>
                    <a:pt x="731468" y="22311"/>
                  </a:lnTo>
                  <a:lnTo>
                    <a:pt x="562229" y="13758"/>
                  </a:lnTo>
                  <a:lnTo>
                    <a:pt x="499676" y="10967"/>
                  </a:lnTo>
                  <a:lnTo>
                    <a:pt x="439525" y="8812"/>
                  </a:lnTo>
                  <a:lnTo>
                    <a:pt x="381742" y="7266"/>
                  </a:lnTo>
                  <a:lnTo>
                    <a:pt x="326291" y="6304"/>
                  </a:lnTo>
                  <a:lnTo>
                    <a:pt x="273137" y="5901"/>
                  </a:lnTo>
                  <a:lnTo>
                    <a:pt x="222247" y="6029"/>
                  </a:lnTo>
                  <a:lnTo>
                    <a:pt x="173583" y="6665"/>
                  </a:lnTo>
                  <a:lnTo>
                    <a:pt x="127113" y="7781"/>
                  </a:lnTo>
                  <a:lnTo>
                    <a:pt x="82800" y="9353"/>
                  </a:lnTo>
                  <a:lnTo>
                    <a:pt x="40610" y="11354"/>
                  </a:lnTo>
                  <a:lnTo>
                    <a:pt x="508" y="13758"/>
                  </a:lnTo>
                  <a:lnTo>
                    <a:pt x="0" y="22013"/>
                  </a:lnTo>
                  <a:lnTo>
                    <a:pt x="1270" y="24553"/>
                  </a:lnTo>
                  <a:lnTo>
                    <a:pt x="508" y="32046"/>
                  </a:lnTo>
                  <a:lnTo>
                    <a:pt x="58145" y="27772"/>
                  </a:lnTo>
                  <a:lnTo>
                    <a:pt x="111072" y="25219"/>
                  </a:lnTo>
                  <a:lnTo>
                    <a:pt x="160418" y="24098"/>
                  </a:lnTo>
                  <a:lnTo>
                    <a:pt x="207318" y="24119"/>
                  </a:lnTo>
                  <a:lnTo>
                    <a:pt x="252904" y="24996"/>
                  </a:lnTo>
                  <a:lnTo>
                    <a:pt x="298308" y="26439"/>
                  </a:lnTo>
                  <a:lnTo>
                    <a:pt x="393098" y="29868"/>
                  </a:lnTo>
                  <a:lnTo>
                    <a:pt x="444750" y="31278"/>
                  </a:lnTo>
                  <a:lnTo>
                    <a:pt x="500749" y="32101"/>
                  </a:lnTo>
                  <a:lnTo>
                    <a:pt x="562229" y="32046"/>
                  </a:lnTo>
                  <a:lnTo>
                    <a:pt x="619171" y="31348"/>
                  </a:lnTo>
                  <a:lnTo>
                    <a:pt x="672135" y="30353"/>
                  </a:lnTo>
                  <a:lnTo>
                    <a:pt x="861187" y="25950"/>
                  </a:lnTo>
                  <a:lnTo>
                    <a:pt x="906990" y="25379"/>
                  </a:lnTo>
                  <a:lnTo>
                    <a:pt x="953906" y="25273"/>
                  </a:lnTo>
                  <a:lnTo>
                    <a:pt x="1002784" y="25760"/>
                  </a:lnTo>
                  <a:lnTo>
                    <a:pt x="1054471" y="26966"/>
                  </a:lnTo>
                  <a:lnTo>
                    <a:pt x="1109817" y="29019"/>
                  </a:lnTo>
                  <a:lnTo>
                    <a:pt x="1223815" y="34916"/>
                  </a:lnTo>
                  <a:lnTo>
                    <a:pt x="1279015" y="37371"/>
                  </a:lnTo>
                  <a:lnTo>
                    <a:pt x="1334844" y="39405"/>
                  </a:lnTo>
                  <a:lnTo>
                    <a:pt x="1390874" y="41010"/>
                  </a:lnTo>
                  <a:lnTo>
                    <a:pt x="1446679" y="42181"/>
                  </a:lnTo>
                  <a:lnTo>
                    <a:pt x="1501833" y="42910"/>
                  </a:lnTo>
                  <a:lnTo>
                    <a:pt x="1555908" y="43190"/>
                  </a:lnTo>
                  <a:lnTo>
                    <a:pt x="1608479" y="43016"/>
                  </a:lnTo>
                  <a:lnTo>
                    <a:pt x="1659119" y="42381"/>
                  </a:lnTo>
                  <a:lnTo>
                    <a:pt x="1707402" y="41277"/>
                  </a:lnTo>
                  <a:lnTo>
                    <a:pt x="1752900" y="39698"/>
                  </a:lnTo>
                  <a:lnTo>
                    <a:pt x="1795187" y="37638"/>
                  </a:lnTo>
                  <a:lnTo>
                    <a:pt x="1833837" y="35089"/>
                  </a:lnTo>
                  <a:lnTo>
                    <a:pt x="1868424" y="32046"/>
                  </a:lnTo>
                  <a:lnTo>
                    <a:pt x="1906631" y="29395"/>
                  </a:lnTo>
                  <a:lnTo>
                    <a:pt x="1940115" y="29362"/>
                  </a:lnTo>
                  <a:lnTo>
                    <a:pt x="1971032" y="31249"/>
                  </a:lnTo>
                  <a:lnTo>
                    <a:pt x="2001534" y="34363"/>
                  </a:lnTo>
                  <a:lnTo>
                    <a:pt x="2033777" y="38006"/>
                  </a:lnTo>
                  <a:lnTo>
                    <a:pt x="2069914" y="41484"/>
                  </a:lnTo>
                  <a:lnTo>
                    <a:pt x="2112101" y="44101"/>
                  </a:lnTo>
                  <a:lnTo>
                    <a:pt x="2162491" y="45161"/>
                  </a:lnTo>
                  <a:lnTo>
                    <a:pt x="2223239" y="43969"/>
                  </a:lnTo>
                  <a:lnTo>
                    <a:pt x="2296498" y="39829"/>
                  </a:lnTo>
                  <a:lnTo>
                    <a:pt x="2384425" y="32046"/>
                  </a:lnTo>
                  <a:lnTo>
                    <a:pt x="2450948" y="25781"/>
                  </a:lnTo>
                  <a:lnTo>
                    <a:pt x="2510459" y="21280"/>
                  </a:lnTo>
                  <a:lnTo>
                    <a:pt x="2564020" y="18342"/>
                  </a:lnTo>
                  <a:lnTo>
                    <a:pt x="2612691" y="16767"/>
                  </a:lnTo>
                  <a:lnTo>
                    <a:pt x="2657536" y="16355"/>
                  </a:lnTo>
                  <a:lnTo>
                    <a:pt x="2699614" y="16904"/>
                  </a:lnTo>
                  <a:lnTo>
                    <a:pt x="2739988" y="18214"/>
                  </a:lnTo>
                  <a:lnTo>
                    <a:pt x="2779720" y="20085"/>
                  </a:lnTo>
                  <a:lnTo>
                    <a:pt x="2905676" y="27059"/>
                  </a:lnTo>
                  <a:lnTo>
                    <a:pt x="2953454" y="29169"/>
                  </a:lnTo>
                  <a:lnTo>
                    <a:pt x="3005897" y="30837"/>
                  </a:lnTo>
                  <a:lnTo>
                    <a:pt x="3064067" y="31863"/>
                  </a:lnTo>
                  <a:lnTo>
                    <a:pt x="3129026" y="32046"/>
                  </a:lnTo>
                  <a:lnTo>
                    <a:pt x="3194299" y="31501"/>
                  </a:lnTo>
                  <a:lnTo>
                    <a:pt x="3253323" y="30505"/>
                  </a:lnTo>
                  <a:lnTo>
                    <a:pt x="3307024" y="29181"/>
                  </a:lnTo>
                  <a:lnTo>
                    <a:pt x="3356329" y="27650"/>
                  </a:lnTo>
                  <a:lnTo>
                    <a:pt x="3487137" y="23038"/>
                  </a:lnTo>
                  <a:lnTo>
                    <a:pt x="3528127" y="21900"/>
                  </a:lnTo>
                  <a:lnTo>
                    <a:pt x="3569355" y="21165"/>
                  </a:lnTo>
                  <a:lnTo>
                    <a:pt x="3611748" y="20955"/>
                  </a:lnTo>
                  <a:lnTo>
                    <a:pt x="3656233" y="21392"/>
                  </a:lnTo>
                  <a:lnTo>
                    <a:pt x="3703736" y="22597"/>
                  </a:lnTo>
                  <a:lnTo>
                    <a:pt x="3755185" y="24694"/>
                  </a:lnTo>
                  <a:lnTo>
                    <a:pt x="3811506" y="27803"/>
                  </a:lnTo>
                  <a:lnTo>
                    <a:pt x="3939279" y="36788"/>
                  </a:lnTo>
                  <a:lnTo>
                    <a:pt x="3997142" y="40644"/>
                  </a:lnTo>
                  <a:lnTo>
                    <a:pt x="4048557" y="43652"/>
                  </a:lnTo>
                  <a:lnTo>
                    <a:pt x="4094867" y="45853"/>
                  </a:lnTo>
                  <a:lnTo>
                    <a:pt x="4137414" y="47285"/>
                  </a:lnTo>
                  <a:lnTo>
                    <a:pt x="4177541" y="47988"/>
                  </a:lnTo>
                  <a:lnTo>
                    <a:pt x="4216590" y="48001"/>
                  </a:lnTo>
                  <a:lnTo>
                    <a:pt x="4255903" y="47362"/>
                  </a:lnTo>
                  <a:lnTo>
                    <a:pt x="4296823" y="46111"/>
                  </a:lnTo>
                  <a:lnTo>
                    <a:pt x="4340692" y="44287"/>
                  </a:lnTo>
                  <a:lnTo>
                    <a:pt x="4388853" y="41930"/>
                  </a:lnTo>
                  <a:lnTo>
                    <a:pt x="4572508" y="32046"/>
                  </a:lnTo>
                  <a:lnTo>
                    <a:pt x="4572381" y="25569"/>
                  </a:lnTo>
                  <a:lnTo>
                    <a:pt x="4572000" y="19981"/>
                  </a:lnTo>
                  <a:lnTo>
                    <a:pt x="4572508" y="13758"/>
                  </a:lnTo>
                  <a:lnTo>
                    <a:pt x="4502018" y="19229"/>
                  </a:lnTo>
                  <a:lnTo>
                    <a:pt x="4435275" y="23634"/>
                  </a:lnTo>
                  <a:lnTo>
                    <a:pt x="4372062" y="27050"/>
                  </a:lnTo>
                  <a:lnTo>
                    <a:pt x="4312162" y="29554"/>
                  </a:lnTo>
                  <a:lnTo>
                    <a:pt x="4255359" y="31221"/>
                  </a:lnTo>
                  <a:lnTo>
                    <a:pt x="4201437" y="32128"/>
                  </a:lnTo>
                  <a:lnTo>
                    <a:pt x="4150178" y="32351"/>
                  </a:lnTo>
                  <a:lnTo>
                    <a:pt x="4101366" y="31966"/>
                  </a:lnTo>
                  <a:lnTo>
                    <a:pt x="4054786" y="31050"/>
                  </a:lnTo>
                  <a:lnTo>
                    <a:pt x="4010219" y="29680"/>
                  </a:lnTo>
                  <a:lnTo>
                    <a:pt x="3967451" y="27931"/>
                  </a:lnTo>
                  <a:lnTo>
                    <a:pt x="3926263" y="25879"/>
                  </a:lnTo>
                  <a:lnTo>
                    <a:pt x="3886441" y="23602"/>
                  </a:lnTo>
                  <a:lnTo>
                    <a:pt x="3736467" y="13758"/>
                  </a:lnTo>
                  <a:lnTo>
                    <a:pt x="3693343" y="11688"/>
                  </a:lnTo>
                  <a:lnTo>
                    <a:pt x="3646760" y="10691"/>
                  </a:lnTo>
                  <a:lnTo>
                    <a:pt x="3597300" y="10588"/>
                  </a:lnTo>
                  <a:lnTo>
                    <a:pt x="3545547" y="11200"/>
                  </a:lnTo>
                  <a:lnTo>
                    <a:pt x="3492086" y="12347"/>
                  </a:lnTo>
                  <a:lnTo>
                    <a:pt x="3272820" y="18696"/>
                  </a:lnTo>
                  <a:lnTo>
                    <a:pt x="3219567" y="19826"/>
                  </a:lnTo>
                  <a:lnTo>
                    <a:pt x="3168107" y="20414"/>
                  </a:lnTo>
                  <a:lnTo>
                    <a:pt x="3119023" y="20281"/>
                  </a:lnTo>
                  <a:lnTo>
                    <a:pt x="3072899" y="19247"/>
                  </a:lnTo>
                  <a:lnTo>
                    <a:pt x="3030319" y="17132"/>
                  </a:lnTo>
                  <a:lnTo>
                    <a:pt x="2951869" y="10182"/>
                  </a:lnTo>
                  <a:lnTo>
                    <a:pt x="2909571" y="8020"/>
                  </a:lnTo>
                  <a:lnTo>
                    <a:pt x="2865165" y="7055"/>
                  </a:lnTo>
                  <a:lnTo>
                    <a:pt x="2818844" y="7071"/>
                  </a:lnTo>
                  <a:lnTo>
                    <a:pt x="2770803" y="7854"/>
                  </a:lnTo>
                  <a:lnTo>
                    <a:pt x="2721234" y="9186"/>
                  </a:lnTo>
                  <a:lnTo>
                    <a:pt x="2565307" y="14327"/>
                  </a:lnTo>
                  <a:lnTo>
                    <a:pt x="2511570" y="15702"/>
                  </a:lnTo>
                  <a:lnTo>
                    <a:pt x="2457276" y="16549"/>
                  </a:lnTo>
                  <a:lnTo>
                    <a:pt x="2402617" y="16651"/>
                  </a:lnTo>
                  <a:lnTo>
                    <a:pt x="2347789" y="15792"/>
                  </a:lnTo>
                  <a:lnTo>
                    <a:pt x="2292985" y="13758"/>
                  </a:lnTo>
                  <a:lnTo>
                    <a:pt x="2124880" y="5720"/>
                  </a:lnTo>
                  <a:lnTo>
                    <a:pt x="2072238" y="3576"/>
                  </a:lnTo>
                  <a:lnTo>
                    <a:pt x="2020993" y="1848"/>
                  </a:lnTo>
                  <a:lnTo>
                    <a:pt x="1970966" y="626"/>
                  </a:lnTo>
                  <a:lnTo>
                    <a:pt x="1921979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3807459" y="1720230"/>
              <a:ext cx="4573270" cy="54610"/>
            </a:xfrm>
            <a:custGeom>
              <a:avLst/>
              <a:gdLst/>
              <a:ahLst/>
              <a:cxnLst/>
              <a:rect l="l" t="t" r="r" b="b"/>
              <a:pathLst>
                <a:path w="4573270" h="54610">
                  <a:moveTo>
                    <a:pt x="253" y="13192"/>
                  </a:moveTo>
                  <a:lnTo>
                    <a:pt x="35512" y="8124"/>
                  </a:lnTo>
                  <a:lnTo>
                    <a:pt x="77436" y="5230"/>
                  </a:lnTo>
                  <a:lnTo>
                    <a:pt x="124887" y="4118"/>
                  </a:lnTo>
                  <a:lnTo>
                    <a:pt x="176729" y="4395"/>
                  </a:lnTo>
                  <a:lnTo>
                    <a:pt x="231822" y="5667"/>
                  </a:lnTo>
                  <a:lnTo>
                    <a:pt x="289030" y="7541"/>
                  </a:lnTo>
                  <a:lnTo>
                    <a:pt x="347215" y="9623"/>
                  </a:lnTo>
                  <a:lnTo>
                    <a:pt x="405239" y="11521"/>
                  </a:lnTo>
                  <a:lnTo>
                    <a:pt x="461965" y="12842"/>
                  </a:lnTo>
                  <a:lnTo>
                    <a:pt x="516254" y="13192"/>
                  </a:lnTo>
                  <a:lnTo>
                    <a:pt x="568456" y="13452"/>
                  </a:lnTo>
                  <a:lnTo>
                    <a:pt x="619906" y="14484"/>
                  </a:lnTo>
                  <a:lnTo>
                    <a:pt x="670836" y="15976"/>
                  </a:lnTo>
                  <a:lnTo>
                    <a:pt x="721478" y="17617"/>
                  </a:lnTo>
                  <a:lnTo>
                    <a:pt x="772064" y="19097"/>
                  </a:lnTo>
                  <a:lnTo>
                    <a:pt x="822825" y="20104"/>
                  </a:lnTo>
                  <a:lnTo>
                    <a:pt x="873993" y="20329"/>
                  </a:lnTo>
                  <a:lnTo>
                    <a:pt x="925800" y="19458"/>
                  </a:lnTo>
                  <a:lnTo>
                    <a:pt x="978477" y="17183"/>
                  </a:lnTo>
                  <a:lnTo>
                    <a:pt x="1032255" y="13192"/>
                  </a:lnTo>
                  <a:lnTo>
                    <a:pt x="1078538" y="9367"/>
                  </a:lnTo>
                  <a:lnTo>
                    <a:pt x="1126578" y="6163"/>
                  </a:lnTo>
                  <a:lnTo>
                    <a:pt x="1176083" y="3601"/>
                  </a:lnTo>
                  <a:lnTo>
                    <a:pt x="1226763" y="1705"/>
                  </a:lnTo>
                  <a:lnTo>
                    <a:pt x="1278327" y="497"/>
                  </a:lnTo>
                  <a:lnTo>
                    <a:pt x="1330483" y="0"/>
                  </a:lnTo>
                  <a:lnTo>
                    <a:pt x="1382941" y="235"/>
                  </a:lnTo>
                  <a:lnTo>
                    <a:pt x="1435410" y="1225"/>
                  </a:lnTo>
                  <a:lnTo>
                    <a:pt x="1487598" y="2994"/>
                  </a:lnTo>
                  <a:lnTo>
                    <a:pt x="1539215" y="5563"/>
                  </a:lnTo>
                  <a:lnTo>
                    <a:pt x="1589969" y="8955"/>
                  </a:lnTo>
                  <a:lnTo>
                    <a:pt x="1639569" y="13192"/>
                  </a:lnTo>
                  <a:lnTo>
                    <a:pt x="1680389" y="16697"/>
                  </a:lnTo>
                  <a:lnTo>
                    <a:pt x="1724240" y="19696"/>
                  </a:lnTo>
                  <a:lnTo>
                    <a:pt x="1770714" y="22189"/>
                  </a:lnTo>
                  <a:lnTo>
                    <a:pt x="1819402" y="24179"/>
                  </a:lnTo>
                  <a:lnTo>
                    <a:pt x="1869896" y="25666"/>
                  </a:lnTo>
                  <a:lnTo>
                    <a:pt x="1921786" y="26652"/>
                  </a:lnTo>
                  <a:lnTo>
                    <a:pt x="1974663" y="27137"/>
                  </a:lnTo>
                  <a:lnTo>
                    <a:pt x="2028120" y="27125"/>
                  </a:lnTo>
                  <a:lnTo>
                    <a:pt x="2081746" y="26615"/>
                  </a:lnTo>
                  <a:lnTo>
                    <a:pt x="2135133" y="25609"/>
                  </a:lnTo>
                  <a:lnTo>
                    <a:pt x="2187872" y="24109"/>
                  </a:lnTo>
                  <a:lnTo>
                    <a:pt x="2239554" y="22116"/>
                  </a:lnTo>
                  <a:lnTo>
                    <a:pt x="2289770" y="19631"/>
                  </a:lnTo>
                  <a:lnTo>
                    <a:pt x="2338112" y="16656"/>
                  </a:lnTo>
                  <a:lnTo>
                    <a:pt x="2384170" y="13192"/>
                  </a:lnTo>
                  <a:lnTo>
                    <a:pt x="2442641" y="8743"/>
                  </a:lnTo>
                  <a:lnTo>
                    <a:pt x="2496543" y="5453"/>
                  </a:lnTo>
                  <a:lnTo>
                    <a:pt x="2546905" y="3230"/>
                  </a:lnTo>
                  <a:lnTo>
                    <a:pt x="2594757" y="1987"/>
                  </a:lnTo>
                  <a:lnTo>
                    <a:pt x="2641127" y="1633"/>
                  </a:lnTo>
                  <a:lnTo>
                    <a:pt x="2687046" y="2079"/>
                  </a:lnTo>
                  <a:lnTo>
                    <a:pt x="2733542" y="3237"/>
                  </a:lnTo>
                  <a:lnTo>
                    <a:pt x="2781646" y="5016"/>
                  </a:lnTo>
                  <a:lnTo>
                    <a:pt x="2832385" y="7328"/>
                  </a:lnTo>
                  <a:lnTo>
                    <a:pt x="2886791" y="10083"/>
                  </a:lnTo>
                  <a:lnTo>
                    <a:pt x="2945891" y="13192"/>
                  </a:lnTo>
                  <a:lnTo>
                    <a:pt x="3004672" y="16535"/>
                  </a:lnTo>
                  <a:lnTo>
                    <a:pt x="3058243" y="19844"/>
                  </a:lnTo>
                  <a:lnTo>
                    <a:pt x="3107829" y="22906"/>
                  </a:lnTo>
                  <a:lnTo>
                    <a:pt x="3154650" y="25511"/>
                  </a:lnTo>
                  <a:lnTo>
                    <a:pt x="3199928" y="27447"/>
                  </a:lnTo>
                  <a:lnTo>
                    <a:pt x="3244885" y="28503"/>
                  </a:lnTo>
                  <a:lnTo>
                    <a:pt x="3290743" y="28468"/>
                  </a:lnTo>
                  <a:lnTo>
                    <a:pt x="3338722" y="27131"/>
                  </a:lnTo>
                  <a:lnTo>
                    <a:pt x="3390046" y="24280"/>
                  </a:lnTo>
                  <a:lnTo>
                    <a:pt x="3445936" y="19704"/>
                  </a:lnTo>
                  <a:lnTo>
                    <a:pt x="3507613" y="13192"/>
                  </a:lnTo>
                  <a:lnTo>
                    <a:pt x="3542547" y="9726"/>
                  </a:lnTo>
                  <a:lnTo>
                    <a:pt x="3579257" y="7179"/>
                  </a:lnTo>
                  <a:lnTo>
                    <a:pt x="3617712" y="5461"/>
                  </a:lnTo>
                  <a:lnTo>
                    <a:pt x="3657879" y="4480"/>
                  </a:lnTo>
                  <a:lnTo>
                    <a:pt x="3699728" y="4147"/>
                  </a:lnTo>
                  <a:lnTo>
                    <a:pt x="3743227" y="4372"/>
                  </a:lnTo>
                  <a:lnTo>
                    <a:pt x="3788344" y="5064"/>
                  </a:lnTo>
                  <a:lnTo>
                    <a:pt x="3835047" y="6132"/>
                  </a:lnTo>
                  <a:lnTo>
                    <a:pt x="3883306" y="7487"/>
                  </a:lnTo>
                  <a:lnTo>
                    <a:pt x="3933089" y="9037"/>
                  </a:lnTo>
                  <a:lnTo>
                    <a:pt x="3984364" y="10694"/>
                  </a:lnTo>
                  <a:lnTo>
                    <a:pt x="4037100" y="12365"/>
                  </a:lnTo>
                  <a:lnTo>
                    <a:pt x="4091264" y="13962"/>
                  </a:lnTo>
                  <a:lnTo>
                    <a:pt x="4146827" y="15393"/>
                  </a:lnTo>
                  <a:lnTo>
                    <a:pt x="4203756" y="16568"/>
                  </a:lnTo>
                  <a:lnTo>
                    <a:pt x="4262019" y="17398"/>
                  </a:lnTo>
                  <a:lnTo>
                    <a:pt x="4321586" y="17791"/>
                  </a:lnTo>
                  <a:lnTo>
                    <a:pt x="4382424" y="17657"/>
                  </a:lnTo>
                  <a:lnTo>
                    <a:pt x="4444502" y="16906"/>
                  </a:lnTo>
                  <a:lnTo>
                    <a:pt x="4507789" y="15448"/>
                  </a:lnTo>
                  <a:lnTo>
                    <a:pt x="4572254" y="13192"/>
                  </a:lnTo>
                  <a:lnTo>
                    <a:pt x="4573143" y="22209"/>
                  </a:lnTo>
                  <a:lnTo>
                    <a:pt x="4571745" y="22590"/>
                  </a:lnTo>
                  <a:lnTo>
                    <a:pt x="4572254" y="31480"/>
                  </a:lnTo>
                  <a:lnTo>
                    <a:pt x="4528810" y="28411"/>
                  </a:lnTo>
                  <a:lnTo>
                    <a:pt x="4483248" y="25421"/>
                  </a:lnTo>
                  <a:lnTo>
                    <a:pt x="4435848" y="22609"/>
                  </a:lnTo>
                  <a:lnTo>
                    <a:pt x="4386891" y="20072"/>
                  </a:lnTo>
                  <a:lnTo>
                    <a:pt x="4336657" y="17909"/>
                  </a:lnTo>
                  <a:lnTo>
                    <a:pt x="4285427" y="16217"/>
                  </a:lnTo>
                  <a:lnTo>
                    <a:pt x="4233481" y="15097"/>
                  </a:lnTo>
                  <a:lnTo>
                    <a:pt x="4181099" y="14645"/>
                  </a:lnTo>
                  <a:lnTo>
                    <a:pt x="4128563" y="14959"/>
                  </a:lnTo>
                  <a:lnTo>
                    <a:pt x="4076152" y="16140"/>
                  </a:lnTo>
                  <a:lnTo>
                    <a:pt x="4024147" y="18283"/>
                  </a:lnTo>
                  <a:lnTo>
                    <a:pt x="3972828" y="21489"/>
                  </a:lnTo>
                  <a:lnTo>
                    <a:pt x="3922477" y="25855"/>
                  </a:lnTo>
                  <a:lnTo>
                    <a:pt x="3873372" y="31480"/>
                  </a:lnTo>
                  <a:lnTo>
                    <a:pt x="3814057" y="37803"/>
                  </a:lnTo>
                  <a:lnTo>
                    <a:pt x="3758697" y="41151"/>
                  </a:lnTo>
                  <a:lnTo>
                    <a:pt x="3706523" y="42094"/>
                  </a:lnTo>
                  <a:lnTo>
                    <a:pt x="3656767" y="41202"/>
                  </a:lnTo>
                  <a:lnTo>
                    <a:pt x="3608661" y="39045"/>
                  </a:lnTo>
                  <a:lnTo>
                    <a:pt x="3561437" y="36194"/>
                  </a:lnTo>
                  <a:lnTo>
                    <a:pt x="3514327" y="33219"/>
                  </a:lnTo>
                  <a:lnTo>
                    <a:pt x="3466561" y="30690"/>
                  </a:lnTo>
                  <a:lnTo>
                    <a:pt x="3417372" y="29176"/>
                  </a:lnTo>
                  <a:lnTo>
                    <a:pt x="3365992" y="29250"/>
                  </a:lnTo>
                  <a:lnTo>
                    <a:pt x="3311651" y="31480"/>
                  </a:lnTo>
                  <a:lnTo>
                    <a:pt x="3258433" y="34391"/>
                  </a:lnTo>
                  <a:lnTo>
                    <a:pt x="3209970" y="36179"/>
                  </a:lnTo>
                  <a:lnTo>
                    <a:pt x="3164821" y="37024"/>
                  </a:lnTo>
                  <a:lnTo>
                    <a:pt x="3121544" y="37106"/>
                  </a:lnTo>
                  <a:lnTo>
                    <a:pt x="3078697" y="36606"/>
                  </a:lnTo>
                  <a:lnTo>
                    <a:pt x="3034839" y="35705"/>
                  </a:lnTo>
                  <a:lnTo>
                    <a:pt x="2988529" y="34581"/>
                  </a:lnTo>
                  <a:lnTo>
                    <a:pt x="2938325" y="33417"/>
                  </a:lnTo>
                  <a:lnTo>
                    <a:pt x="2882784" y="32392"/>
                  </a:lnTo>
                  <a:lnTo>
                    <a:pt x="2820467" y="31686"/>
                  </a:lnTo>
                  <a:lnTo>
                    <a:pt x="2749931" y="31480"/>
                  </a:lnTo>
                  <a:lnTo>
                    <a:pt x="2692294" y="31113"/>
                  </a:lnTo>
                  <a:lnTo>
                    <a:pt x="2637165" y="29940"/>
                  </a:lnTo>
                  <a:lnTo>
                    <a:pt x="2584214" y="28176"/>
                  </a:lnTo>
                  <a:lnTo>
                    <a:pt x="2533111" y="26037"/>
                  </a:lnTo>
                  <a:lnTo>
                    <a:pt x="2483525" y="23738"/>
                  </a:lnTo>
                  <a:lnTo>
                    <a:pt x="2435126" y="21496"/>
                  </a:lnTo>
                  <a:lnTo>
                    <a:pt x="2387584" y="19526"/>
                  </a:lnTo>
                  <a:lnTo>
                    <a:pt x="2340568" y="18044"/>
                  </a:lnTo>
                  <a:lnTo>
                    <a:pt x="2293750" y="17265"/>
                  </a:lnTo>
                  <a:lnTo>
                    <a:pt x="2246798" y="17406"/>
                  </a:lnTo>
                  <a:lnTo>
                    <a:pt x="2199382" y="18682"/>
                  </a:lnTo>
                  <a:lnTo>
                    <a:pt x="2151172" y="21309"/>
                  </a:lnTo>
                  <a:lnTo>
                    <a:pt x="2101838" y="25503"/>
                  </a:lnTo>
                  <a:lnTo>
                    <a:pt x="2051050" y="31480"/>
                  </a:lnTo>
                  <a:lnTo>
                    <a:pt x="2002524" y="37500"/>
                  </a:lnTo>
                  <a:lnTo>
                    <a:pt x="1953342" y="42568"/>
                  </a:lnTo>
                  <a:lnTo>
                    <a:pt x="1903618" y="46707"/>
                  </a:lnTo>
                  <a:lnTo>
                    <a:pt x="1853467" y="49937"/>
                  </a:lnTo>
                  <a:lnTo>
                    <a:pt x="1803004" y="52279"/>
                  </a:lnTo>
                  <a:lnTo>
                    <a:pt x="1752346" y="53754"/>
                  </a:lnTo>
                  <a:lnTo>
                    <a:pt x="1701605" y="54383"/>
                  </a:lnTo>
                  <a:lnTo>
                    <a:pt x="1650899" y="54187"/>
                  </a:lnTo>
                  <a:lnTo>
                    <a:pt x="1600342" y="53187"/>
                  </a:lnTo>
                  <a:lnTo>
                    <a:pt x="1550049" y="51405"/>
                  </a:lnTo>
                  <a:lnTo>
                    <a:pt x="1500135" y="48860"/>
                  </a:lnTo>
                  <a:lnTo>
                    <a:pt x="1450715" y="45574"/>
                  </a:lnTo>
                  <a:lnTo>
                    <a:pt x="1401906" y="41568"/>
                  </a:lnTo>
                  <a:lnTo>
                    <a:pt x="1353821" y="36863"/>
                  </a:lnTo>
                  <a:lnTo>
                    <a:pt x="1306576" y="31480"/>
                  </a:lnTo>
                  <a:lnTo>
                    <a:pt x="1240168" y="24604"/>
                  </a:lnTo>
                  <a:lnTo>
                    <a:pt x="1180515" y="20690"/>
                  </a:lnTo>
                  <a:lnTo>
                    <a:pt x="1126319" y="19198"/>
                  </a:lnTo>
                  <a:lnTo>
                    <a:pt x="1076279" y="19592"/>
                  </a:lnTo>
                  <a:lnTo>
                    <a:pt x="1029096" y="21335"/>
                  </a:lnTo>
                  <a:lnTo>
                    <a:pt x="983472" y="23890"/>
                  </a:lnTo>
                  <a:lnTo>
                    <a:pt x="938107" y="26719"/>
                  </a:lnTo>
                  <a:lnTo>
                    <a:pt x="891702" y="29285"/>
                  </a:lnTo>
                  <a:lnTo>
                    <a:pt x="842958" y="31051"/>
                  </a:lnTo>
                  <a:lnTo>
                    <a:pt x="790575" y="31480"/>
                  </a:lnTo>
                  <a:lnTo>
                    <a:pt x="753894" y="31160"/>
                  </a:lnTo>
                  <a:lnTo>
                    <a:pt x="712568" y="30703"/>
                  </a:lnTo>
                  <a:lnTo>
                    <a:pt x="667229" y="30148"/>
                  </a:lnTo>
                  <a:lnTo>
                    <a:pt x="618509" y="29533"/>
                  </a:lnTo>
                  <a:lnTo>
                    <a:pt x="567041" y="28896"/>
                  </a:lnTo>
                  <a:lnTo>
                    <a:pt x="513455" y="28276"/>
                  </a:lnTo>
                  <a:lnTo>
                    <a:pt x="458385" y="27712"/>
                  </a:lnTo>
                  <a:lnTo>
                    <a:pt x="402463" y="27241"/>
                  </a:lnTo>
                  <a:lnTo>
                    <a:pt x="346320" y="26903"/>
                  </a:lnTo>
                  <a:lnTo>
                    <a:pt x="290589" y="26736"/>
                  </a:lnTo>
                  <a:lnTo>
                    <a:pt x="235902" y="26778"/>
                  </a:lnTo>
                  <a:lnTo>
                    <a:pt x="182891" y="27068"/>
                  </a:lnTo>
                  <a:lnTo>
                    <a:pt x="132189" y="27645"/>
                  </a:lnTo>
                  <a:lnTo>
                    <a:pt x="84427" y="28547"/>
                  </a:lnTo>
                  <a:lnTo>
                    <a:pt x="40238" y="29812"/>
                  </a:lnTo>
                  <a:lnTo>
                    <a:pt x="253" y="31480"/>
                  </a:lnTo>
                  <a:lnTo>
                    <a:pt x="0" y="27416"/>
                  </a:lnTo>
                  <a:lnTo>
                    <a:pt x="762" y="19034"/>
                  </a:lnTo>
                  <a:lnTo>
                    <a:pt x="253" y="13192"/>
                  </a:lnTo>
                  <a:close/>
                </a:path>
              </a:pathLst>
            </a:custGeom>
            <a:ln w="41275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86800" y="228600"/>
            <a:ext cx="3200400" cy="1676400"/>
          </a:xfrm>
          <a:prstGeom prst="rect">
            <a:avLst/>
          </a:prstGeom>
        </p:spPr>
      </p:pic>
      <p:pic>
        <p:nvPicPr>
          <p:cNvPr id="8" name="Image 7" descr="Une image contenant motif, Graphique, pixel, conception&#10;&#10;Le contenu généré par l’IA peut être incorrect.">
            <a:extLst>
              <a:ext uri="{FF2B5EF4-FFF2-40B4-BE49-F238E27FC236}">
                <a16:creationId xmlns:a16="http://schemas.microsoft.com/office/drawing/2014/main" id="{8A69BF6F-1FB1-5525-3F1F-33AD59FD4B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2087175"/>
            <a:ext cx="4030436" cy="4114800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3ADB5B84-B745-7D74-C81E-DF9AACD052AB}"/>
              </a:ext>
            </a:extLst>
          </p:cNvPr>
          <p:cNvSpPr txBox="1"/>
          <p:nvPr/>
        </p:nvSpPr>
        <p:spPr>
          <a:xfrm>
            <a:off x="32657" y="2895600"/>
            <a:ext cx="798808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s’inscrire gratuitement sur la plateforme IBM </a:t>
            </a:r>
            <a:r>
              <a:rPr kumimoji="0" lang="fr-FR" sz="24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SkillsBuild</a:t>
            </a:r>
            <a:endParaRPr kumimoji="0" lang="fr-FR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Lancer une formation et visionner au moins une vidéo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9451" rIns="0" bIns="0" rtlCol="0">
            <a:spAutoFit/>
          </a:bodyPr>
          <a:lstStyle/>
          <a:p>
            <a:pPr marL="3444240">
              <a:lnSpc>
                <a:spcPct val="100000"/>
              </a:lnSpc>
              <a:spcBef>
                <a:spcPts val="135"/>
              </a:spcBef>
            </a:pPr>
            <a:r>
              <a:rPr sz="8000" spc="-100" dirty="0">
                <a:solidFill>
                  <a:srgbClr val="FFFFFF"/>
                </a:solidFill>
              </a:rPr>
              <a:t>A</a:t>
            </a:r>
            <a:r>
              <a:rPr sz="8000" spc="-905" dirty="0">
                <a:solidFill>
                  <a:srgbClr val="FFFFFF"/>
                </a:solidFill>
              </a:rPr>
              <a:t> </a:t>
            </a:r>
            <a:r>
              <a:rPr sz="8000" spc="-150" dirty="0">
                <a:solidFill>
                  <a:srgbClr val="FFFFFF"/>
                </a:solidFill>
              </a:rPr>
              <a:t>vous</a:t>
            </a:r>
            <a:r>
              <a:rPr sz="8000" spc="-869" dirty="0">
                <a:solidFill>
                  <a:srgbClr val="FFFFFF"/>
                </a:solidFill>
              </a:rPr>
              <a:t> </a:t>
            </a:r>
            <a:r>
              <a:rPr sz="8000" spc="-375" dirty="0">
                <a:solidFill>
                  <a:srgbClr val="FFFFFF"/>
                </a:solidFill>
              </a:rPr>
              <a:t>de</a:t>
            </a:r>
            <a:r>
              <a:rPr sz="8000" spc="-885" dirty="0">
                <a:solidFill>
                  <a:srgbClr val="FFFFFF"/>
                </a:solidFill>
              </a:rPr>
              <a:t> </a:t>
            </a:r>
            <a:r>
              <a:rPr sz="8000" spc="-575" dirty="0">
                <a:solidFill>
                  <a:srgbClr val="FFFFFF"/>
                </a:solidFill>
              </a:rPr>
              <a:t>jouer</a:t>
            </a:r>
            <a:r>
              <a:rPr sz="8000" spc="-844" dirty="0">
                <a:solidFill>
                  <a:srgbClr val="FFFFFF"/>
                </a:solidFill>
              </a:rPr>
              <a:t> </a:t>
            </a:r>
            <a:r>
              <a:rPr sz="8000" spc="-1019" dirty="0">
                <a:solidFill>
                  <a:srgbClr val="FFFFFF"/>
                </a:solidFill>
              </a:rPr>
              <a:t>!</a:t>
            </a:r>
            <a:endParaRPr sz="8000"/>
          </a:p>
        </p:txBody>
      </p:sp>
      <p:grpSp>
        <p:nvGrpSpPr>
          <p:cNvPr id="4" name="object 4"/>
          <p:cNvGrpSpPr/>
          <p:nvPr/>
        </p:nvGrpSpPr>
        <p:grpSpPr>
          <a:xfrm>
            <a:off x="849312" y="581025"/>
            <a:ext cx="10504805" cy="6275070"/>
            <a:chOff x="849312" y="581025"/>
            <a:chExt cx="10504805" cy="627507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76625" y="581025"/>
              <a:ext cx="133350" cy="14287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29050" y="809625"/>
              <a:ext cx="95250" cy="9525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57575" y="1038225"/>
              <a:ext cx="133350" cy="12382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62012" y="3510026"/>
              <a:ext cx="0" cy="3346450"/>
            </a:xfrm>
            <a:custGeom>
              <a:avLst/>
              <a:gdLst/>
              <a:ahLst/>
              <a:cxnLst/>
              <a:rect l="l" t="t" r="r" b="b"/>
              <a:pathLst>
                <a:path h="3346450">
                  <a:moveTo>
                    <a:pt x="0" y="0"/>
                  </a:moveTo>
                  <a:lnTo>
                    <a:pt x="0" y="3346026"/>
                  </a:lnTo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839450" y="5638800"/>
              <a:ext cx="152400" cy="1524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249025" y="6096000"/>
              <a:ext cx="104775" cy="10477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553700" y="6238875"/>
              <a:ext cx="95250" cy="9525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2586</TotalTime>
  <Words>158</Words>
  <Application>Microsoft Macintosh PowerPoint</Application>
  <PresentationFormat>Grand écran</PresentationFormat>
  <Paragraphs>43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Arial</vt:lpstr>
      <vt:lpstr>Trebuchet MS</vt:lpstr>
      <vt:lpstr>Office Theme</vt:lpstr>
      <vt:lpstr>1_Office Theme</vt:lpstr>
      <vt:lpstr>Formation 4 :</vt:lpstr>
      <vt:lpstr>Définition et applications</vt:lpstr>
      <vt:lpstr>Présentation PowerPoint</vt:lpstr>
      <vt:lpstr>Présentation PowerPoint</vt:lpstr>
      <vt:lpstr>Présentation PowerPoint</vt:lpstr>
      <vt:lpstr>Notre partenariat avec IBM</vt:lpstr>
      <vt:lpstr>A vous de jouer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Formation 4 :</dc:title>
  <cp:lastModifiedBy>nouroudine cisse</cp:lastModifiedBy>
  <cp:revision>7</cp:revision>
  <dcterms:created xsi:type="dcterms:W3CDTF">2025-10-21T09:22:31Z</dcterms:created>
  <dcterms:modified xsi:type="dcterms:W3CDTF">2025-11-19T17:00:23Z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2025-10-01T00:00:00Z</vt:filetime>
  </property>
  <property fmtid="{D5CDD505-2E9C-101B-9397-08002B2CF9AE}" pid="3" name="LastSaved">
    <vt:filetime>2025-10-21T00:00:00Z</vt:filetime>
  </property>
</Properties>
</file>